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5" r:id="rId8"/>
    <p:sldId id="276" r:id="rId9"/>
    <p:sldId id="264" r:id="rId10"/>
    <p:sldId id="263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tiajo/DBN" TargetMode="External"/><Relationship Id="rId2" Type="http://schemas.openxmlformats.org/officeDocument/2006/relationships/hyperlink" Target="https://trello.com/w/duocuc52/hom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bn-nine.vercel.app/login" TargetMode="External"/><Relationship Id="rId2" Type="http://schemas.openxmlformats.org/officeDocument/2006/relationships/hyperlink" Target="https://dbn.onrender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0DF04-7A87-9722-E8DA-6AEF2B201A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Dragón del bastión del Norte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FCD05E-5239-3BB1-B47B-610A4073B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Carlos Manzo – </a:t>
            </a:r>
            <a:r>
              <a:rPr lang="es-MX" dirty="0" err="1"/>
              <a:t>Zuar</a:t>
            </a:r>
            <a:r>
              <a:rPr lang="es-MX" dirty="0"/>
              <a:t> Sepúlveda – Benjamín Huentemilla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47361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E1D53-F4E5-38D3-CD60-63AC4E37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Contexto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D06009-FF27-AD30-44F1-002E192C1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Tienda "Piedra Bruja" (Providencia), especializada en partidas guiadas de </a:t>
            </a:r>
            <a:r>
              <a:rPr lang="es-CL" i="1" dirty="0" err="1"/>
              <a:t>Dungeons</a:t>
            </a:r>
            <a:r>
              <a:rPr lang="es-CL" i="1" dirty="0"/>
              <a:t> &amp; </a:t>
            </a:r>
            <a:r>
              <a:rPr lang="es-CL" i="1" dirty="0" err="1"/>
              <a:t>Dragons</a:t>
            </a:r>
            <a:r>
              <a:rPr lang="es-CL" dirty="0"/>
              <a:t>.</a:t>
            </a:r>
          </a:p>
          <a:p>
            <a:r>
              <a:rPr lang="es-MX" dirty="0"/>
              <a:t>Gestión operativa manual dependiente de planillas y documentos dispersos.</a:t>
            </a:r>
          </a:p>
          <a:p>
            <a:r>
              <a:rPr lang="es-MX" dirty="0"/>
              <a:t>Sobrecarga administrativa para el personal y desinformación hacia el usuario.</a:t>
            </a:r>
          </a:p>
          <a:p>
            <a:r>
              <a:rPr lang="es-MX" dirty="0"/>
              <a:t>Alta tasa de deserción de jugadores debido a una experiencia de usuario deficiente.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5596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28B8A-D9D8-E520-89C2-9C2777C2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Solución Propuesta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4C001-7561-F775-8747-416504C31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Desarrollo de una aplicación web centralizada para la automatización de recursos.</a:t>
            </a:r>
          </a:p>
          <a:p>
            <a:r>
              <a:rPr lang="es-MX" dirty="0"/>
              <a:t>Reducción drástica de la carga administrativa (optimización de tiempos).</a:t>
            </a:r>
          </a:p>
          <a:p>
            <a:r>
              <a:rPr lang="es-MX" dirty="0"/>
              <a:t>Fidelización de clientes mediante una experiencia digital inmersiva y guiada.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5827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128B1-D19E-8D3D-BE1D-59E7C50A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Metodología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F330BC-C9CD-5B46-2B39-F0F9BFEB3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Adopción de </a:t>
            </a:r>
            <a:r>
              <a:rPr lang="es-MX" b="1" dirty="0"/>
              <a:t>Scrum</a:t>
            </a:r>
            <a:r>
              <a:rPr lang="es-MX" dirty="0"/>
              <a:t> para garantizar flexibilidad y entrega temprana de valor.</a:t>
            </a:r>
          </a:p>
          <a:p>
            <a:r>
              <a:rPr lang="es-MX" dirty="0"/>
              <a:t>Organización en ciclos iterativos e incrementales (</a:t>
            </a:r>
            <a:r>
              <a:rPr lang="es-MX" b="1" dirty="0" err="1"/>
              <a:t>Sprints</a:t>
            </a:r>
            <a:r>
              <a:rPr lang="es-MX" dirty="0"/>
              <a:t>) para el control de avances.</a:t>
            </a:r>
          </a:p>
          <a:p>
            <a:r>
              <a:rPr lang="es-MX" dirty="0"/>
              <a:t>Definición de requerimientos mediante un </a:t>
            </a:r>
            <a:r>
              <a:rPr lang="es-MX" b="1" dirty="0" err="1"/>
              <a:t>Product</a:t>
            </a:r>
            <a:r>
              <a:rPr lang="es-MX" b="1" dirty="0"/>
              <a:t> Backlog</a:t>
            </a:r>
            <a:r>
              <a:rPr lang="es-MX" dirty="0"/>
              <a:t> priorizado (Épicas e Historias de Usuario).</a:t>
            </a:r>
          </a:p>
          <a:p>
            <a:r>
              <a:rPr lang="es-MX" dirty="0"/>
              <a:t>Ejecución de </a:t>
            </a:r>
            <a:r>
              <a:rPr lang="es-MX" i="1" dirty="0"/>
              <a:t>Sprint </a:t>
            </a:r>
            <a:r>
              <a:rPr lang="es-MX" i="1" dirty="0" err="1"/>
              <a:t>Planning</a:t>
            </a:r>
            <a:r>
              <a:rPr lang="es-MX" dirty="0"/>
              <a:t> para la toma de decisiones y así validar avances con el cliente.</a:t>
            </a:r>
          </a:p>
          <a:p>
            <a:r>
              <a:rPr lang="es-MX" dirty="0"/>
              <a:t>Capacidad de respuesta ágil ante cambios de infraestructura o nuevos requerimientos operativos.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4097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AF1EE-1BBC-3077-76D7-2656EDBE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Demostración - Metodología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750C30-45E3-1E0D-8D6F-C4767B6AE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u="sng" dirty="0"/>
              <a:t>Trello:</a:t>
            </a:r>
            <a:r>
              <a:rPr lang="es-MX" dirty="0"/>
              <a:t>  </a:t>
            </a:r>
            <a:r>
              <a:rPr lang="es-MX" dirty="0">
                <a:hlinkClick r:id="rId2"/>
              </a:rPr>
              <a:t>https://trello.com/w/duocuc52/home</a:t>
            </a:r>
            <a:endParaRPr lang="es-MX" dirty="0"/>
          </a:p>
          <a:p>
            <a:r>
              <a:rPr lang="es-CL" u="sng" dirty="0" err="1"/>
              <a:t>Github</a:t>
            </a:r>
            <a:r>
              <a:rPr lang="es-CL" u="sng" dirty="0"/>
              <a:t>:</a:t>
            </a:r>
            <a:r>
              <a:rPr lang="es-CL" dirty="0"/>
              <a:t> </a:t>
            </a:r>
            <a:r>
              <a:rPr lang="es-CL" dirty="0">
                <a:hlinkClick r:id="rId3"/>
              </a:rPr>
              <a:t>https://github.com/Santiajo/DBN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47055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D0993-6CF6-E1E5-7891-99A4278D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Sprint </a:t>
            </a:r>
            <a:r>
              <a:rPr lang="es-MX" dirty="0" err="1"/>
              <a:t>Planning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061BCA2-D22C-C1C2-2466-43DE9891E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13" y="2226874"/>
            <a:ext cx="8947150" cy="184584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E3FF833-77A6-0A02-16AB-72BC1C9E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14" y="4072722"/>
            <a:ext cx="8947150" cy="105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77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236C-0B41-BE62-1927-FF2D5A2A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13196-17B6-EA44-3368-8F6D2A3C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Sprint </a:t>
            </a:r>
            <a:r>
              <a:rPr lang="es-MX" dirty="0" err="1"/>
              <a:t>Planning</a:t>
            </a:r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88F549C-7BBC-9487-F2A3-59F6182FE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45" y="2207209"/>
            <a:ext cx="8947150" cy="187166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F2516BE-CD8C-4E21-E78B-1F7D88CBC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444" y="4078870"/>
            <a:ext cx="8947151" cy="118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3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0CCBA-9040-CD97-67E1-1266FB0D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Historias canceladas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E7537F4-D0C9-E8EE-6DAC-A21BA54B0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425" y="1976541"/>
            <a:ext cx="8947150" cy="290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E4A28-4690-9DAE-CA92-B9F8636E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728735"/>
            <a:ext cx="9404723" cy="1400530"/>
          </a:xfrm>
        </p:spPr>
        <p:txBody>
          <a:bodyPr/>
          <a:lstStyle/>
          <a:p>
            <a:pPr algn="ctr"/>
            <a:r>
              <a:rPr lang="es-MX" dirty="0"/>
              <a:t>Implementación técnica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3109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DC9A6-4046-9A0A-3435-639A4C0D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4B7A0A-8F84-2EAC-8FCC-A52CCB5F9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Arquitectura en 3 capas</a:t>
            </a:r>
          </a:p>
          <a:p>
            <a:r>
              <a:rPr lang="es-MX" dirty="0"/>
              <a:t>Render – Django (</a:t>
            </a:r>
            <a:r>
              <a:rPr lang="es-MX" dirty="0" err="1"/>
              <a:t>Backend</a:t>
            </a:r>
            <a:r>
              <a:rPr lang="es-MX" dirty="0"/>
              <a:t>).</a:t>
            </a:r>
          </a:p>
          <a:p>
            <a:r>
              <a:rPr lang="es-MX" dirty="0" err="1"/>
              <a:t>Vercel</a:t>
            </a:r>
            <a:r>
              <a:rPr lang="es-MX" dirty="0"/>
              <a:t> – </a:t>
            </a:r>
            <a:r>
              <a:rPr lang="es-MX" dirty="0" err="1"/>
              <a:t>Nextjs</a:t>
            </a:r>
            <a:r>
              <a:rPr lang="es-MX" dirty="0"/>
              <a:t> (</a:t>
            </a:r>
            <a:r>
              <a:rPr lang="es-MX" dirty="0" err="1"/>
              <a:t>Frontend</a:t>
            </a:r>
            <a:r>
              <a:rPr lang="es-MX" dirty="0"/>
              <a:t>).</a:t>
            </a:r>
          </a:p>
          <a:p>
            <a:r>
              <a:rPr lang="es-MX" dirty="0"/>
              <a:t>Render – </a:t>
            </a:r>
            <a:r>
              <a:rPr lang="es-MX" dirty="0" err="1"/>
              <a:t>Postgresql</a:t>
            </a:r>
            <a:r>
              <a:rPr lang="es-MX" dirty="0"/>
              <a:t> (Base de datos) – pagado.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48626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D39BA-3DEA-AFDD-403A-E82F8ADC6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Flujo de trabajo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65166A-6A0B-9EB0-52A3-BC1C88DFB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Crear modelo de base de datos</a:t>
            </a:r>
          </a:p>
          <a:p>
            <a:r>
              <a:rPr lang="es-MX" dirty="0"/>
              <a:t>Crear serializer</a:t>
            </a:r>
          </a:p>
          <a:p>
            <a:r>
              <a:rPr lang="es-MX" dirty="0"/>
              <a:t>Crear vista del modelo</a:t>
            </a:r>
          </a:p>
          <a:p>
            <a:r>
              <a:rPr lang="es-MX" dirty="0"/>
              <a:t>Crear </a:t>
            </a:r>
            <a:r>
              <a:rPr lang="es-MX" dirty="0" err="1"/>
              <a:t>url</a:t>
            </a:r>
            <a:r>
              <a:rPr lang="es-MX" dirty="0"/>
              <a:t> del sistema (</a:t>
            </a:r>
            <a:r>
              <a:rPr lang="es-MX" dirty="0" err="1"/>
              <a:t>Endpoint</a:t>
            </a:r>
            <a:r>
              <a:rPr lang="es-MX" dirty="0"/>
              <a:t> API)</a:t>
            </a:r>
          </a:p>
          <a:p>
            <a:r>
              <a:rPr lang="es-MX" dirty="0"/>
              <a:t>Crear </a:t>
            </a:r>
            <a:r>
              <a:rPr lang="es-MX" dirty="0" err="1"/>
              <a:t>type</a:t>
            </a:r>
            <a:r>
              <a:rPr lang="es-MX" dirty="0"/>
              <a:t> en el </a:t>
            </a:r>
            <a:r>
              <a:rPr lang="es-MX" dirty="0" err="1"/>
              <a:t>frontend</a:t>
            </a:r>
            <a:endParaRPr lang="es-MX" dirty="0"/>
          </a:p>
          <a:p>
            <a:r>
              <a:rPr lang="es-MX" dirty="0"/>
              <a:t>Llamar a la API e incorporar interfaz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5770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FCD19-40F4-3AE9-70A6-A4C1F8F1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Modelo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A017D21-717D-6070-C67D-1EF62C985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460606"/>
            <a:ext cx="8947150" cy="337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16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1D0E0-2CD9-BBE0-3B5A-D5A913241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View – Serializer - </a:t>
            </a:r>
            <a:r>
              <a:rPr lang="es-MX" dirty="0" err="1"/>
              <a:t>Url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82EC17-53B6-57BF-C6F3-A52A5725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965" y="2478113"/>
            <a:ext cx="4505954" cy="1095528"/>
          </a:xfrm>
          <a:prstGeom prst="rect">
            <a:avLst/>
          </a:prstGeo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26864269-FD0B-58E2-1206-D7BB2297C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60083" y="2578139"/>
            <a:ext cx="4286848" cy="895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9C33759-167E-4326-C17C-DF08ADF8C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443" y="4103079"/>
            <a:ext cx="5287113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2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1C496-751B-EB47-7068-8DE7D5BA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Type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9E9DA1D-D38F-0C1E-0382-D49FDCFC5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5656" y="1733313"/>
            <a:ext cx="2600688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4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B9AE0-2224-15FA-AE98-50BCD3C7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Función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B9516F-7222-42F1-0886-4374586FF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7296" y="1331119"/>
            <a:ext cx="4597407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68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FA0DC-BB1F-5645-3320-90F03849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Formulario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461211B-A99A-5623-E98F-C379678F7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3706" y="2176287"/>
            <a:ext cx="6544588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43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17CDA-DB76-88EC-E3A7-5791341E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Links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13498-E384-D26B-25D9-9EE3AB69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Backend</a:t>
            </a:r>
            <a:r>
              <a:rPr lang="es-MX" dirty="0"/>
              <a:t>: </a:t>
            </a:r>
            <a:r>
              <a:rPr lang="es-MX" dirty="0">
                <a:hlinkClick r:id="rId2"/>
              </a:rPr>
              <a:t>https://dbn.onrender.com/</a:t>
            </a:r>
            <a:endParaRPr lang="es-MX" dirty="0"/>
          </a:p>
          <a:p>
            <a:r>
              <a:rPr lang="es-MX" dirty="0" err="1"/>
              <a:t>Frontend</a:t>
            </a:r>
            <a:r>
              <a:rPr lang="es-MX" dirty="0"/>
              <a:t>: </a:t>
            </a:r>
            <a:r>
              <a:rPr lang="es-MX" dirty="0">
                <a:hlinkClick r:id="rId3"/>
              </a:rPr>
              <a:t>https://dbn-nine.vercel.app/login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5398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CB9E7-A8FA-85F0-5362-81F8BF52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Aportes a intereses profesionales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3942E1-4CFA-A6A1-D0EA-F64B24624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Transición desde la programación funcional hacia la </a:t>
            </a:r>
            <a:r>
              <a:rPr lang="es-MX" b="1" dirty="0"/>
              <a:t>Arquitectura de Software</a:t>
            </a:r>
            <a:r>
              <a:rPr lang="es-MX" dirty="0"/>
              <a:t> y el diseño de soluciones integrales.</a:t>
            </a:r>
          </a:p>
          <a:p>
            <a:r>
              <a:rPr lang="es-MX" dirty="0"/>
              <a:t>Profundización técnica en el despliegue productivo y orquestación de servicios en la nube (</a:t>
            </a:r>
            <a:r>
              <a:rPr lang="es-MX" b="1" dirty="0"/>
              <a:t>Render/</a:t>
            </a:r>
            <a:r>
              <a:rPr lang="es-MX" b="1" dirty="0" err="1"/>
              <a:t>Vercel</a:t>
            </a:r>
            <a:r>
              <a:rPr lang="es-MX" dirty="0"/>
              <a:t>).</a:t>
            </a:r>
          </a:p>
          <a:p>
            <a:r>
              <a:rPr lang="es-MX" dirty="0"/>
              <a:t>Interés consolidado en la interoperabilidad entre aplicaciones, asegurando la comunicación eficiente entre </a:t>
            </a:r>
            <a:r>
              <a:rPr lang="es-MX" i="1" dirty="0" err="1"/>
              <a:t>Frontend</a:t>
            </a:r>
            <a:r>
              <a:rPr lang="es-MX" dirty="0"/>
              <a:t> y </a:t>
            </a:r>
            <a:r>
              <a:rPr lang="es-MX" i="1" dirty="0" err="1"/>
              <a:t>Backend</a:t>
            </a:r>
            <a:r>
              <a:rPr lang="es-MX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7421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D95EE-5946-563E-4BF9-03E2B93C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Vinculación perfil egreso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B6003-5884-7BD5-02CE-DA21F64BC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Aplicación de metodologías ágiles para la toma de decisiones estratégicas basadas en los requerimientos del negocio.</a:t>
            </a:r>
          </a:p>
          <a:p>
            <a:r>
              <a:rPr lang="es-MX" dirty="0"/>
              <a:t>Diseño e implementación de esquemas de datos relacionales escalables para soportar procesos complejos.</a:t>
            </a:r>
          </a:p>
          <a:p>
            <a:r>
              <a:rPr lang="es-MX" dirty="0"/>
              <a:t>Implementación de software utilizando técnicas estándares de industria para asegurar su calidad y mantenibilidad.</a:t>
            </a:r>
          </a:p>
        </p:txBody>
      </p:sp>
    </p:spTree>
    <p:extLst>
      <p:ext uri="{BB962C8B-B14F-4D97-AF65-F5344CB8AC3E}">
        <p14:creationId xmlns:p14="http://schemas.microsoft.com/office/powerpoint/2010/main" val="3076397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176</TotalTime>
  <Words>409</Words>
  <Application>Microsoft Office PowerPoint</Application>
  <PresentationFormat>Panorámica</PresentationFormat>
  <Paragraphs>52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Century Gothic</vt:lpstr>
      <vt:lpstr>Wingdings 3</vt:lpstr>
      <vt:lpstr>Ion</vt:lpstr>
      <vt:lpstr>Dragón del bastión del Norte</vt:lpstr>
      <vt:lpstr>Contexto</vt:lpstr>
      <vt:lpstr>Solución Propuesta</vt:lpstr>
      <vt:lpstr>Metodología</vt:lpstr>
      <vt:lpstr>Demostración - Metodología</vt:lpstr>
      <vt:lpstr>Sprint Planning</vt:lpstr>
      <vt:lpstr>Sprint Planning</vt:lpstr>
      <vt:lpstr>Historias canceladas</vt:lpstr>
      <vt:lpstr>Implementación técnica</vt:lpstr>
      <vt:lpstr>Arquitectura</vt:lpstr>
      <vt:lpstr>Flujo de trabajo</vt:lpstr>
      <vt:lpstr>Modelo</vt:lpstr>
      <vt:lpstr>View – Serializer - Url</vt:lpstr>
      <vt:lpstr>Type</vt:lpstr>
      <vt:lpstr>Función</vt:lpstr>
      <vt:lpstr>Formulario</vt:lpstr>
      <vt:lpstr>Links</vt:lpstr>
      <vt:lpstr>Aportes a intereses profesionales</vt:lpstr>
      <vt:lpstr>Vinculación perfil egreso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. MANZO JORQUERA</dc:creator>
  <cp:lastModifiedBy>CARLOS . MANZO JORQUERA</cp:lastModifiedBy>
  <cp:revision>2</cp:revision>
  <dcterms:created xsi:type="dcterms:W3CDTF">2025-11-23T00:50:55Z</dcterms:created>
  <dcterms:modified xsi:type="dcterms:W3CDTF">2025-11-23T04:06:15Z</dcterms:modified>
</cp:coreProperties>
</file>